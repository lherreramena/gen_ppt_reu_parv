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1" r:id="rId4"/>
    <p:sldId id="326" r:id="rId5"/>
    <p:sldId id="324" r:id="rId6"/>
    <p:sldId id="262" r:id="rId7"/>
    <p:sldId id="323" r:id="rId8"/>
    <p:sldId id="328" r:id="rId9"/>
    <p:sldId id="329" r:id="rId10"/>
    <p:sldId id="327" r:id="rId11"/>
    <p:sldId id="319" r:id="rId12"/>
    <p:sldId id="263" r:id="rId13"/>
    <p:sldId id="264" r:id="rId14"/>
    <p:sldId id="320" r:id="rId15"/>
    <p:sldId id="330" r:id="rId16"/>
    <p:sldId id="31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3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Messina" userId="eb3ddef0262cd8c8" providerId="LiveId" clId="{D2ECD501-5BE1-481B-BA6F-A967AD06CCD0}"/>
    <pc:docChg chg="undo custSel addSld delSld modSld sldOrd">
      <pc:chgData name="Carolina Messina" userId="eb3ddef0262cd8c8" providerId="LiveId" clId="{D2ECD501-5BE1-481B-BA6F-A967AD06CCD0}" dt="2026-10-26T23:11:22.071" v="3706" actId="20577"/>
      <pc:docMkLst>
        <pc:docMk/>
      </pc:docMkLst>
      <pc:sldChg chg="modSp mod">
        <pc:chgData name="Carolina Messina" userId="eb3ddef0262cd8c8" providerId="LiveId" clId="{D2ECD501-5BE1-481B-BA6F-A967AD06CCD0}" dt="2026-10-26T23:02:39.669" v="3605" actId="20577"/>
        <pc:sldMkLst>
          <pc:docMk/>
          <pc:sldMk cId="2864252946" sldId="257"/>
        </pc:sldMkLst>
        <pc:spChg chg="mod">
          <ac:chgData name="Carolina Messina" userId="eb3ddef0262cd8c8" providerId="LiveId" clId="{D2ECD501-5BE1-481B-BA6F-A967AD06CCD0}" dt="2026-10-26T23:02:39.669" v="3605" actId="20577"/>
          <ac:spMkLst>
            <pc:docMk/>
            <pc:sldMk cId="2864252946" sldId="257"/>
            <ac:spMk id="6" creationId="{1905AF06-B028-4BE3-BC39-E3279BDE205A}"/>
          </ac:spMkLst>
        </pc:spChg>
      </pc:sldChg>
      <pc:sldChg chg="modSp mod">
        <pc:chgData name="Carolina Messina" userId="eb3ddef0262cd8c8" providerId="LiveId" clId="{D2ECD501-5BE1-481B-BA6F-A967AD06CCD0}" dt="2026-10-26T23:11:22.071" v="3706" actId="20577"/>
        <pc:sldMkLst>
          <pc:docMk/>
          <pc:sldMk cId="96884386" sldId="258"/>
        </pc:sldMkLst>
        <pc:spChg chg="mod">
          <ac:chgData name="Carolina Messina" userId="eb3ddef0262cd8c8" providerId="LiveId" clId="{D2ECD501-5BE1-481B-BA6F-A967AD06CCD0}" dt="2026-10-26T23:11:22.071" v="3706" actId="20577"/>
          <ac:spMkLst>
            <pc:docMk/>
            <pc:sldMk cId="96884386" sldId="258"/>
            <ac:spMk id="4" creationId="{9463AE7C-298A-B9D9-6CD6-8382708347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3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8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43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5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7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9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5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1079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32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1754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28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8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0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FF32B-5A00-453B-BF1C-E1F98119EE4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7CC8EDA-1B70-49A0-9888-3B3036DF8C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1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5D291D0E-2251-B766-DA78-FC081F5AE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38" y="134704"/>
            <a:ext cx="2246186" cy="224618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C41C678-F7AB-6D9E-00F5-196C8C570029}"/>
              </a:ext>
            </a:extLst>
          </p:cNvPr>
          <p:cNvSpPr txBox="1"/>
          <p:nvPr/>
        </p:nvSpPr>
        <p:spPr>
          <a:xfrm>
            <a:off x="2691442" y="652098"/>
            <a:ext cx="7763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rgbClr val="002060"/>
                </a:solidFill>
              </a:rPr>
              <a:t>REUNION DE APODERADOS</a:t>
            </a:r>
            <a:endParaRPr lang="en-US" sz="4800" b="1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05AF06-B028-4BE3-BC39-E3279BDE205A}"/>
              </a:ext>
            </a:extLst>
          </p:cNvPr>
          <p:cNvSpPr txBox="1"/>
          <p:nvPr/>
        </p:nvSpPr>
        <p:spPr>
          <a:xfrm>
            <a:off x="431322" y="2081220"/>
            <a:ext cx="117606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4000" dirty="0">
                <a:solidFill>
                  <a:srgbClr val="002060"/>
                </a:solidFill>
              </a:rPr>
              <a:t>Pre Kinder</a:t>
            </a:r>
          </a:p>
          <a:p>
            <a:pPr algn="ctr"/>
            <a:endParaRPr lang="es-CL" sz="4000" dirty="0">
              <a:solidFill>
                <a:srgbClr val="002060"/>
              </a:solidFill>
            </a:endParaRPr>
          </a:p>
          <a:p>
            <a:pPr algn="ctr"/>
            <a:r>
              <a:rPr lang="es-CL" sz="4000" dirty="0">
                <a:solidFill>
                  <a:srgbClr val="002060"/>
                </a:solidFill>
              </a:rPr>
              <a:t>OCTUBRE 2026</a:t>
            </a:r>
          </a:p>
          <a:p>
            <a:pPr algn="ctr"/>
            <a:endParaRPr lang="es-CL" sz="4000" dirty="0">
              <a:solidFill>
                <a:srgbClr val="002060"/>
              </a:solidFill>
            </a:endParaRPr>
          </a:p>
          <a:p>
            <a:r>
              <a:rPr lang="es-CL" sz="4000" dirty="0">
                <a:solidFill>
                  <a:srgbClr val="002060"/>
                </a:solidFill>
              </a:rPr>
              <a:t>Educadora del Nivel: Carolina Messina</a:t>
            </a:r>
          </a:p>
          <a:p>
            <a:r>
              <a:rPr lang="es-CL" sz="4000" dirty="0">
                <a:solidFill>
                  <a:srgbClr val="002060"/>
                </a:solidFill>
              </a:rPr>
              <a:t>Técnico del Nivel: Barbara Navia</a:t>
            </a:r>
          </a:p>
        </p:txBody>
      </p:sp>
    </p:spTree>
    <p:extLst>
      <p:ext uri="{BB962C8B-B14F-4D97-AF65-F5344CB8AC3E}">
        <p14:creationId xmlns:p14="http://schemas.microsoft.com/office/powerpoint/2010/main" val="286425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1C2E8-F197-485A-1ADC-73782144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413" y="107137"/>
            <a:ext cx="4901082" cy="716455"/>
          </a:xfrm>
        </p:spPr>
        <p:txBody>
          <a:bodyPr/>
          <a:lstStyle/>
          <a:p>
            <a:r>
              <a:rPr lang="es-CL" b="1" u="sng" dirty="0">
                <a:solidFill>
                  <a:srgbClr val="002060"/>
                </a:solidFill>
              </a:rPr>
              <a:t>TABLA DE REUNION.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63AE7C-298A-B9D9-6CD6-83827083472E}"/>
              </a:ext>
            </a:extLst>
          </p:cNvPr>
          <p:cNvSpPr txBox="1"/>
          <p:nvPr/>
        </p:nvSpPr>
        <p:spPr>
          <a:xfrm>
            <a:off x="307953" y="823592"/>
            <a:ext cx="1176643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Bienvenida.                                  </a:t>
            </a:r>
            <a:r>
              <a:rPr lang="es-CL" sz="3500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Teléfonos Colegio Santos  Rubio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Saludo.                                                                   </a:t>
            </a:r>
            <a:r>
              <a:rPr lang="es-CL" sz="3500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2 -  2385 8692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Lista de Asistencia.                    </a:t>
            </a:r>
            <a:r>
              <a:rPr lang="es-CL" sz="3500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9 -  </a:t>
            </a:r>
            <a:r>
              <a:rPr lang="es-CL" sz="350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6594 9037  9 - 9515 8504</a:t>
            </a:r>
            <a:endParaRPr lang="es-CL" sz="35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Reflexionar sobre uso del WhatsApp del curso</a:t>
            </a:r>
            <a:endParaRPr lang="es-CL" sz="3500" dirty="0">
              <a:solidFill>
                <a:srgbClr val="002060"/>
              </a:solidFill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Fechas importantes</a:t>
            </a:r>
            <a:endParaRPr lang="es-CL" sz="3500" dirty="0">
              <a:solidFill>
                <a:srgbClr val="002060"/>
              </a:solidFill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Fechas importantes Noviembre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Fechas Importante.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Actividades de finalización de año.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Seguimos trabajando en…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Reflexión.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Recordatorios importantes y Directiva.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sz="3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Despedida.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9688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6350690-B12E-11EC-CE51-6214411F3ECA}"/>
              </a:ext>
            </a:extLst>
          </p:cNvPr>
          <p:cNvSpPr txBox="1"/>
          <p:nvPr/>
        </p:nvSpPr>
        <p:spPr>
          <a:xfrm>
            <a:off x="2156604" y="86134"/>
            <a:ext cx="6107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600" u="sng" dirty="0">
                <a:solidFill>
                  <a:srgbClr val="002060"/>
                </a:solidFill>
              </a:rPr>
              <a:t>Fechas importantes octubre </a:t>
            </a:r>
            <a:endParaRPr lang="en-US" sz="3600" u="sng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3789B2-AE2D-9A78-EF9F-CE61F4BEEBB0}"/>
              </a:ext>
            </a:extLst>
          </p:cNvPr>
          <p:cNvSpPr txBox="1"/>
          <p:nvPr/>
        </p:nvSpPr>
        <p:spPr>
          <a:xfrm>
            <a:off x="319178" y="1088640"/>
            <a:ext cx="1148674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Viernes 10 de octubre Fiestas primavera (disfraz alusivo a la primavera o  jeans con polera de colores vivos y algún accesorio primaveral.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Jueves 16 de Octubre Acto del día del Funcionario.(horario normal)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Lunes 20 de Octubre Día del funcionario.(Día Libre)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s-CL" sz="28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Entrevistas personales a partir del 21 de Octubre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s-CL" sz="28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Lunes 27 de Octubre Próxima evaluación de lectura </a:t>
            </a:r>
            <a:r>
              <a:rPr lang="es-CL" sz="2800" err="1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domiciliaria</a:t>
            </a:r>
            <a:r>
              <a:rPr lang="es-CL" sz="28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:”Tomás</a:t>
            </a: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elefante que quería ser perro salchicha” Myriam </a:t>
            </a:r>
            <a:r>
              <a:rPr lang="es-CL" sz="2800" dirty="0" err="1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Yagnam</a:t>
            </a:r>
            <a:endParaRPr lang="es-CL" sz="28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s-CL" sz="28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Miércoles 29 de Octubre Feria científica Tema: “El aire”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s-CL" sz="28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30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6310225-4592-4A97-8359-3A3EF1CF2660}"/>
              </a:ext>
            </a:extLst>
          </p:cNvPr>
          <p:cNvSpPr txBox="1"/>
          <p:nvPr/>
        </p:nvSpPr>
        <p:spPr>
          <a:xfrm>
            <a:off x="443108" y="4889021"/>
            <a:ext cx="111531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Salida pedagógica 30 de octubre Pueblito Las Vizcachas NT1 premiación por “Mejorar la asistencia” durante este 2do semestre.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32DA39-9536-7FAD-ADE2-FCF60F677650}"/>
              </a:ext>
            </a:extLst>
          </p:cNvPr>
          <p:cNvSpPr txBox="1"/>
          <p:nvPr/>
        </p:nvSpPr>
        <p:spPr>
          <a:xfrm>
            <a:off x="443108" y="576307"/>
            <a:ext cx="105645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AIRE: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Aire como movimiento.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Aire como fuente de calor.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Ambiente libre de contaminación.(afiche preparado en familia </a:t>
            </a: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 de Octubre)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Fuentes de contaminación. </a:t>
            </a: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Pequeñas maquetas</a:t>
            </a:r>
          </a:p>
          <a:p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Fijas : quema de hojas, industrias, chimeneas, basura.</a:t>
            </a:r>
          </a:p>
          <a:p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Móviles :Todos los medios de transportes que utilizan combustibles fósiles. Versus medios de transportes sustentables.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Calidad del aire. Construiremos un semáforo del aire.</a:t>
            </a:r>
          </a:p>
        </p:txBody>
      </p:sp>
    </p:spTree>
    <p:extLst>
      <p:ext uri="{BB962C8B-B14F-4D97-AF65-F5344CB8AC3E}">
        <p14:creationId xmlns:p14="http://schemas.microsoft.com/office/powerpoint/2010/main" val="393132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1C41E8-7D0F-3F79-9402-0482971B7799}"/>
              </a:ext>
            </a:extLst>
          </p:cNvPr>
          <p:cNvSpPr txBox="1"/>
          <p:nvPr/>
        </p:nvSpPr>
        <p:spPr>
          <a:xfrm>
            <a:off x="176982" y="1073682"/>
            <a:ext cx="92226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Salida</a:t>
            </a:r>
            <a:r>
              <a:rPr lang="es-CL" sz="24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pedagógica 12 de noviembre Pueblito Las vizcachas NT2 premiación por “Mejorar la asistencia” durante este 2do semestre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CL" sz="24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CL" sz="24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EAAB80-C872-2743-5844-39C7793A9525}"/>
              </a:ext>
            </a:extLst>
          </p:cNvPr>
          <p:cNvSpPr txBox="1"/>
          <p:nvPr/>
        </p:nvSpPr>
        <p:spPr>
          <a:xfrm>
            <a:off x="176982" y="2227844"/>
            <a:ext cx="91145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s-CL" sz="28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Salida pedagógica 06 de noviembre “Rio Clarillo” NT1 y NT2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D1903D-12CD-070F-5316-38F110CC770C}"/>
              </a:ext>
            </a:extLst>
          </p:cNvPr>
          <p:cNvSpPr txBox="1"/>
          <p:nvPr/>
        </p:nvSpPr>
        <p:spPr>
          <a:xfrm>
            <a:off x="2874460" y="158598"/>
            <a:ext cx="6957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600" u="sng" dirty="0">
                <a:solidFill>
                  <a:srgbClr val="002060"/>
                </a:solidFill>
              </a:rPr>
              <a:t>Fechas importantes noviembre </a:t>
            </a:r>
            <a:endParaRPr lang="en-US" sz="3600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62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294BA9A-26AA-7F91-617E-59AA27FF2631}"/>
              </a:ext>
            </a:extLst>
          </p:cNvPr>
          <p:cNvSpPr txBox="1"/>
          <p:nvPr/>
        </p:nvSpPr>
        <p:spPr>
          <a:xfrm>
            <a:off x="2329132" y="238028"/>
            <a:ext cx="6107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Fechas importantes…</a:t>
            </a:r>
            <a:endParaRPr lang="en-US" sz="3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DCCD87C-0A0B-4875-DF6B-70225E05AA48}"/>
              </a:ext>
            </a:extLst>
          </p:cNvPr>
          <p:cNvSpPr txBox="1"/>
          <p:nvPr/>
        </p:nvSpPr>
        <p:spPr>
          <a:xfrm>
            <a:off x="497456" y="1228397"/>
            <a:ext cx="111970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Actividades de finalización de año y ceremonias </a:t>
            </a:r>
          </a:p>
          <a:p>
            <a:pPr algn="l"/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Aniversario de la escuela (Miércoles 03 de diciembre)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Traspaso Kínder (viernes 12 de diciembre a las 09:00 horas)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Matrículas 05 y 09 de diciembre:</a:t>
            </a:r>
          </a:p>
          <a:p>
            <a:pPr algn="l"/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estudiantes antiguos 08:30 a  13:00 horas.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Matriculas estudiantes nuevos 11 y 12 de diciembre.</a:t>
            </a:r>
          </a:p>
        </p:txBody>
      </p:sp>
    </p:spTree>
    <p:extLst>
      <p:ext uri="{BB962C8B-B14F-4D97-AF65-F5344CB8AC3E}">
        <p14:creationId xmlns:p14="http://schemas.microsoft.com/office/powerpoint/2010/main" val="273650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545A8F-08D7-7306-3E71-EA7BF3D045F3}"/>
              </a:ext>
            </a:extLst>
          </p:cNvPr>
          <p:cNvSpPr txBox="1"/>
          <p:nvPr/>
        </p:nvSpPr>
        <p:spPr>
          <a:xfrm>
            <a:off x="1587260" y="293298"/>
            <a:ext cx="7435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u="sng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Seguimos trabajando en;</a:t>
            </a:r>
            <a:endParaRPr lang="en-US" sz="4000" u="sng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C9B84E-9514-C709-12DD-603491356A46}"/>
              </a:ext>
            </a:extLst>
          </p:cNvPr>
          <p:cNvSpPr txBox="1"/>
          <p:nvPr/>
        </p:nvSpPr>
        <p:spPr>
          <a:xfrm>
            <a:off x="497456" y="1228397"/>
            <a:ext cx="11197087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Orientación espacial.</a:t>
            </a:r>
          </a:p>
          <a:p>
            <a:pPr marL="571500" indent="-5715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Números del 0 al 20.(dictados)</a:t>
            </a:r>
          </a:p>
          <a:p>
            <a:pPr marL="571500" indent="-5715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Menor ,mayor o igual.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Secuencia </a:t>
            </a:r>
            <a:r>
              <a:rPr lang="es-CL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númerica</a:t>
            </a: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Antecesor y sucesor.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Adiciones y sustracciones.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Resolución de problemas con encabezado.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Clasificación.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Correspondencia.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Patrones.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Tolerancia a la frustración.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Empatía.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Respeto.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Responsabilidad.</a:t>
            </a:r>
          </a:p>
          <a:p>
            <a:pPr algn="l"/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dos estrategias el panel de asistencia y el cofre de los premios.</a:t>
            </a:r>
          </a:p>
        </p:txBody>
      </p:sp>
    </p:spTree>
    <p:extLst>
      <p:ext uri="{BB962C8B-B14F-4D97-AF65-F5344CB8AC3E}">
        <p14:creationId xmlns:p14="http://schemas.microsoft.com/office/powerpoint/2010/main" val="250435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D664A-4FD6-E3B3-F1AF-7C001927D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3FA41A2-42AB-B10A-93F6-00154E055E05}"/>
              </a:ext>
            </a:extLst>
          </p:cNvPr>
          <p:cNvSpPr txBox="1"/>
          <p:nvPr/>
        </p:nvSpPr>
        <p:spPr>
          <a:xfrm>
            <a:off x="1587260" y="293298"/>
            <a:ext cx="7435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u="sng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Seguimos trabajando en:</a:t>
            </a:r>
            <a:endParaRPr lang="en-US" sz="4000" u="sng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121EC4-C53E-5CD8-DFDD-623B727628B8}"/>
              </a:ext>
            </a:extLst>
          </p:cNvPr>
          <p:cNvSpPr txBox="1"/>
          <p:nvPr/>
        </p:nvSpPr>
        <p:spPr>
          <a:xfrm>
            <a:off x="497456" y="1228397"/>
            <a:ext cx="11197087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Fomento lector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Síntesis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Vocabulario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Secuencia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 estrofas y versos.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Sonido inicial.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Sonido final.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Comprensión lectora.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Conteo silábico.     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Tolerancia a la frustración.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Empatía.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Respeto.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Responsabilidad.</a:t>
            </a:r>
          </a:p>
          <a:p>
            <a:pPr algn="l"/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dos estrategias el panel de asistencia y el cofre de los premios.</a:t>
            </a:r>
          </a:p>
        </p:txBody>
      </p:sp>
    </p:spTree>
    <p:extLst>
      <p:ext uri="{BB962C8B-B14F-4D97-AF65-F5344CB8AC3E}">
        <p14:creationId xmlns:p14="http://schemas.microsoft.com/office/powerpoint/2010/main" val="1965891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A8125-0843-FEB7-5865-D546BA1FF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F73115E-1F41-39EA-D9ED-03FC280B4E9A}"/>
              </a:ext>
            </a:extLst>
          </p:cNvPr>
          <p:cNvSpPr txBox="1"/>
          <p:nvPr/>
        </p:nvSpPr>
        <p:spPr>
          <a:xfrm>
            <a:off x="1587260" y="322795"/>
            <a:ext cx="7435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u="sng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Seguimos trabajando en:</a:t>
            </a:r>
            <a:endParaRPr lang="en-US" sz="4000" u="sng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C775DF-924F-4A12-E37D-80C97221F828}"/>
              </a:ext>
            </a:extLst>
          </p:cNvPr>
          <p:cNvSpPr txBox="1"/>
          <p:nvPr/>
        </p:nvSpPr>
        <p:spPr>
          <a:xfrm>
            <a:off x="497456" y="1228397"/>
            <a:ext cx="111970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Comprensión lectora (en la escuela con diferentes textos y la lectura domiciliaria)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Vocales (identificar, graficar y discriminar el sonido).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Dictados de dos sonidos vocálicos.</a:t>
            </a:r>
          </a:p>
          <a:p>
            <a:pPr marL="571500" indent="-571500" algn="l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ü"/>
            </a:pPr>
            <a:endParaRPr lang="es-CL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87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2C5F7-7340-E00B-E7AC-BFDF143A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FAAD986-32F8-2808-BD42-77476659A0D9}"/>
              </a:ext>
            </a:extLst>
          </p:cNvPr>
          <p:cNvSpPr txBox="1"/>
          <p:nvPr/>
        </p:nvSpPr>
        <p:spPr>
          <a:xfrm>
            <a:off x="1587260" y="293298"/>
            <a:ext cx="7435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u="sng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Seguimos trabajando en</a:t>
            </a:r>
            <a:endParaRPr lang="en-US" sz="4000" u="sng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FDC70-7B64-2153-8E35-79B5DC443B9F}"/>
              </a:ext>
            </a:extLst>
          </p:cNvPr>
          <p:cNvSpPr txBox="1"/>
          <p:nvPr/>
        </p:nvSpPr>
        <p:spPr>
          <a:xfrm>
            <a:off x="497456" y="1228397"/>
            <a:ext cx="111970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de los impulsos.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Tolerancia a la frustración.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Empatía.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Respeto.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Responsabilidad.</a:t>
            </a:r>
          </a:p>
          <a:p>
            <a:pPr algn="l"/>
            <a:r>
              <a:rPr lang="es-CL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dos estrategias el panel de asistencia y el cofre de los premios.</a:t>
            </a:r>
          </a:p>
        </p:txBody>
      </p:sp>
    </p:spTree>
    <p:extLst>
      <p:ext uri="{BB962C8B-B14F-4D97-AF65-F5344CB8AC3E}">
        <p14:creationId xmlns:p14="http://schemas.microsoft.com/office/powerpoint/2010/main" val="2414608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05D8C7E5-7850-BE51-2928-5D7D4B65D198}"/>
              </a:ext>
            </a:extLst>
          </p:cNvPr>
          <p:cNvSpPr txBox="1"/>
          <p:nvPr/>
        </p:nvSpPr>
        <p:spPr>
          <a:xfrm>
            <a:off x="1552754" y="255281"/>
            <a:ext cx="6107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3600" u="sng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Taller para padres y apoderados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11948C6-CDF8-374D-78AC-EA08D0EB7ACD}"/>
              </a:ext>
            </a:extLst>
          </p:cNvPr>
          <p:cNvSpPr txBox="1"/>
          <p:nvPr/>
        </p:nvSpPr>
        <p:spPr>
          <a:xfrm>
            <a:off x="310644" y="2324667"/>
            <a:ext cx="61075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Padres </a:t>
            </a:r>
          </a:p>
          <a:p>
            <a:pPr marL="0" indent="0" algn="ctr">
              <a:buNone/>
            </a:pPr>
            <a:r>
              <a:rPr lang="es-E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primeros  responsables en la formación valórica de sus hijos.</a:t>
            </a:r>
          </a:p>
        </p:txBody>
      </p:sp>
      <p:pic>
        <p:nvPicPr>
          <p:cNvPr id="14" name="Picture 2" descr="10 VALORES QUE DEBEMOS INCULCAR A NUESTROS HIJOS E HIJAS – Departamento de  Orientación del Colegio Pablo VI">
            <a:extLst>
              <a:ext uri="{FF2B5EF4-FFF2-40B4-BE49-F238E27FC236}">
                <a16:creationId xmlns:a16="http://schemas.microsoft.com/office/drawing/2014/main" id="{0D72B925-B88F-FF6F-51C9-C6D6466EF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726" y="1319993"/>
            <a:ext cx="5233630" cy="544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2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EBF54AD-B5A1-8D02-A924-91009A181F9E}"/>
              </a:ext>
            </a:extLst>
          </p:cNvPr>
          <p:cNvSpPr txBox="1"/>
          <p:nvPr/>
        </p:nvSpPr>
        <p:spPr>
          <a:xfrm>
            <a:off x="2070339" y="255282"/>
            <a:ext cx="61075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u="sng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invito a reflexionar </a:t>
            </a:r>
            <a:endParaRPr lang="en-US" sz="4000" u="sng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B285F6-1510-AFD3-BE4F-2249A54D2CE0}"/>
              </a:ext>
            </a:extLst>
          </p:cNvPr>
          <p:cNvSpPr txBox="1"/>
          <p:nvPr/>
        </p:nvSpPr>
        <p:spPr>
          <a:xfrm>
            <a:off x="189781" y="1404069"/>
            <a:ext cx="1142137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Primeros educadores naturales</a:t>
            </a:r>
          </a:p>
          <a:p>
            <a:pPr algn="just"/>
            <a:r>
              <a:rPr lang="es-MX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Desde el nacimiento, los padres son quienes pasan más tiempo con sus hijos. En esos primeros años, los niños aprenden principalmente por imitación, observando las conductas, reacciones y actitudes de sus padres. Por eso, los valores que los padres muestran con su ejemplo (respeto, responsabilidad, honestidad, empatía, etc.) son los que el niño absorberá primero y más profundamente.</a:t>
            </a:r>
          </a:p>
          <a:p>
            <a:pPr algn="just"/>
            <a:endParaRPr lang="es-MX" sz="2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MX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Formación del carácter desde temprana edad</a:t>
            </a:r>
          </a:p>
          <a:p>
            <a:pPr algn="just"/>
            <a:r>
              <a:rPr lang="es-MX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infancia es una etapa clave para el desarrollo del carácter y la personalidad. Las normas y valores que se enseñan en casa son la base para el comportamiento futuro del niño en la sociedad. Si en casa se enseñan límites claros, respeto por los demás, tolerancia y cooperación, es más probable que el niño se relacione de forma saludable con su entorno.</a:t>
            </a:r>
          </a:p>
        </p:txBody>
      </p:sp>
    </p:spTree>
    <p:extLst>
      <p:ext uri="{BB962C8B-B14F-4D97-AF65-F5344CB8AC3E}">
        <p14:creationId xmlns:p14="http://schemas.microsoft.com/office/powerpoint/2010/main" val="4273221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4465D8F-FA6B-D72B-ABBA-05D1A20A57CB}"/>
              </a:ext>
            </a:extLst>
          </p:cNvPr>
          <p:cNvSpPr txBox="1"/>
          <p:nvPr/>
        </p:nvSpPr>
        <p:spPr>
          <a:xfrm>
            <a:off x="138023" y="194940"/>
            <a:ext cx="1121434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Complemento a la educación formal</a:t>
            </a:r>
          </a:p>
          <a:p>
            <a:pPr algn="just"/>
            <a:r>
              <a:rPr lang="es-MX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Aunque la escuela también enseña valores y normas, su función es más bien complementaria. La formación moral y ética no puede dejarse únicamente en manos de instituciones educativas, ya que su tiempo e influencia sobre el niño son limitados comparados con los de la familia.</a:t>
            </a:r>
          </a:p>
          <a:p>
            <a:pPr algn="just"/>
            <a:endParaRPr lang="es-MX" sz="2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MX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Construcción del sentido de pertenencia</a:t>
            </a:r>
          </a:p>
          <a:p>
            <a:pPr algn="just"/>
            <a:r>
              <a:rPr lang="es-MX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valores familiares dan identidad y sentido de pertenencia. Cuando los niños crecen con una base clara de lo que está bien y mal en su hogar, se sienten más seguros, estables y capaces de enfrentar los desafíos del mundo exterior.</a:t>
            </a:r>
          </a:p>
          <a:p>
            <a:pPr algn="just"/>
            <a:endParaRPr lang="es-MX" sz="2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MX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Responsabilidad legal y moral</a:t>
            </a:r>
          </a:p>
          <a:p>
            <a:pPr algn="just"/>
            <a:r>
              <a:rPr lang="es-MX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muchas culturas y sistemas legales, los padres tienen la </a:t>
            </a:r>
            <a:r>
              <a:rPr lang="es-MX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obligación legal y moral</a:t>
            </a:r>
            <a:r>
              <a:rPr lang="es-MX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cuidar, educar y guiar a sus hijos. Parte de esta responsabilidad incluye enseñarles a comportarse correctamente, a respetar a los demás y a convivir en sociedad.</a:t>
            </a:r>
          </a:p>
        </p:txBody>
      </p:sp>
    </p:spTree>
    <p:extLst>
      <p:ext uri="{BB962C8B-B14F-4D97-AF65-F5344CB8AC3E}">
        <p14:creationId xmlns:p14="http://schemas.microsoft.com/office/powerpoint/2010/main" val="2474682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3F32F5-F7EB-23DA-B150-1EEE41E7430C}"/>
              </a:ext>
            </a:extLst>
          </p:cNvPr>
          <p:cNvSpPr txBox="1"/>
          <p:nvPr/>
        </p:nvSpPr>
        <p:spPr>
          <a:xfrm>
            <a:off x="276044" y="1167296"/>
            <a:ext cx="659058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resumen, </a:t>
            </a:r>
            <a:r>
              <a:rPr lang="es-MX" sz="2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padres son los primeros responsables</a:t>
            </a: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porque tienen el mayor grado de influencia en los años más formativos del niño, y porque la familia es el núcleo donde se aprende por primera vez cómo vivir en sociedad. Todo lo que viene después (escuela, amistades, sociedad) se construye sobre esa base.</a:t>
            </a:r>
            <a:endParaRPr lang="es-ES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Marcador de posición de imagen 16" descr="Un pavo real">
            <a:extLst>
              <a:ext uri="{FF2B5EF4-FFF2-40B4-BE49-F238E27FC236}">
                <a16:creationId xmlns:a16="http://schemas.microsoft.com/office/drawing/2014/main" id="{4DC92B06-FC74-5062-0762-C806B7E84F6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2369" y="646133"/>
            <a:ext cx="5449631" cy="621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9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DB160-455F-0F92-1BB4-96D6EBCB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3BA476F-690A-299E-ECAF-2B5AB8166D97}"/>
              </a:ext>
            </a:extLst>
          </p:cNvPr>
          <p:cNvSpPr txBox="1"/>
          <p:nvPr/>
        </p:nvSpPr>
        <p:spPr>
          <a:xfrm>
            <a:off x="428444" y="252896"/>
            <a:ext cx="11555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 LOS NIÑOS Y NIÑAS APRENDEN DE LO QUE VEN NO DE LO QUE ESCUCHAN…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F3D6A09-977E-DC3E-A8D8-03120718566B}"/>
              </a:ext>
            </a:extLst>
          </p:cNvPr>
          <p:cNvSpPr txBox="1"/>
          <p:nvPr/>
        </p:nvSpPr>
        <p:spPr>
          <a:xfrm>
            <a:off x="428444" y="1207003"/>
            <a:ext cx="11555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Recordar justificar inasistencia.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Puntualidad a la entrada y salida de los estudiantes.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Asistir a reunión y entrevistas personales.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Cumplir con los materiales de los niños.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Sacar punta a los lápices.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Enviarles colación para la jornada, respetando minuta.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enviar jugos ni aguas saborizadas.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decir malas palabras delante de los niños y niñas.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conversar temas de adultos frente a ellos.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Evitar juegos bruscos para que no sean replicados en la escuela.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966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2C796D4-DB3F-BC0E-BB61-7E25A02A7ED9}"/>
              </a:ext>
            </a:extLst>
          </p:cNvPr>
          <p:cNvSpPr txBox="1"/>
          <p:nvPr/>
        </p:nvSpPr>
        <p:spPr>
          <a:xfrm>
            <a:off x="1748287" y="143409"/>
            <a:ext cx="8660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Sigamos trabajando en Equipo  </a:t>
            </a:r>
          </a:p>
          <a:p>
            <a:pPr algn="ctr"/>
            <a:r>
              <a:rPr lang="es-CL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Familia y Escuela</a:t>
            </a:r>
            <a:endParaRPr lang="en-US" sz="4000" dirty="0"/>
          </a:p>
        </p:txBody>
      </p:sp>
      <p:pic>
        <p:nvPicPr>
          <p:cNvPr id="5" name="Picture 2" descr="Pin de Cristina Roa en ♥ wishes and messages | Imagenes de agradecimiento,  Mensajes de agradecimiento, Frases de agradecimiento">
            <a:extLst>
              <a:ext uri="{FF2B5EF4-FFF2-40B4-BE49-F238E27FC236}">
                <a16:creationId xmlns:a16="http://schemas.microsoft.com/office/drawing/2014/main" id="{3540A840-51A7-8602-4318-B6BFB8FA27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0" t="11667" r="4961" b="9814"/>
          <a:stretch/>
        </p:blipFill>
        <p:spPr bwMode="auto">
          <a:xfrm>
            <a:off x="317500" y="1466848"/>
            <a:ext cx="11264900" cy="53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67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Roj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1768</TotalTime>
  <Words>1044</Words>
  <Application>Microsoft Office PowerPoint</Application>
  <PresentationFormat>Panorámica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Faceta</vt:lpstr>
      <vt:lpstr>Presentación de PowerPoint</vt:lpstr>
      <vt:lpstr>TABLA DE REUNION.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yadranka Curcic</dc:creator>
  <cp:lastModifiedBy>Carolina Messina</cp:lastModifiedBy>
  <cp:revision>24</cp:revision>
  <dcterms:created xsi:type="dcterms:W3CDTF">2025-07-21T02:44:11Z</dcterms:created>
  <dcterms:modified xsi:type="dcterms:W3CDTF">2026-10-26T23:13:42Z</dcterms:modified>
</cp:coreProperties>
</file>