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o Poblete Lopez" userId="1febb7c8ad0c9531" providerId="LiveId" clId="{197ABA27-C446-4C72-AD1C-B3652C4C6C08}"/>
    <pc:docChg chg="addSld delSld modSld">
      <pc:chgData name="Renato Poblete Lopez" userId="1febb7c8ad0c9531" providerId="LiveId" clId="{197ABA27-C446-4C72-AD1C-B3652C4C6C08}" dt="2026-10-26T15:44:56.434" v="2" actId="2696"/>
      <pc:docMkLst>
        <pc:docMk/>
      </pc:docMkLst>
      <pc:sldChg chg="new del">
        <pc:chgData name="Renato Poblete Lopez" userId="1febb7c8ad0c9531" providerId="LiveId" clId="{197ABA27-C446-4C72-AD1C-B3652C4C6C08}" dt="2026-10-26T15:44:56.434" v="2" actId="2696"/>
        <pc:sldMkLst>
          <pc:docMk/>
          <pc:sldMk cId="1403965429" sldId="268"/>
        </pc:sldMkLst>
      </pc:sldChg>
      <pc:sldChg chg="add">
        <pc:chgData name="Renato Poblete Lopez" userId="1febb7c8ad0c9531" providerId="LiveId" clId="{197ABA27-C446-4C72-AD1C-B3652C4C6C08}" dt="2026-10-26T15:44:45.722" v="1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803C0-6B42-4B2B-9216-4447AF350EAA}" type="datetimeFigureOut">
              <a:rPr lang="es-CL" smtClean="0"/>
              <a:t>26-10-2026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34A1E-5D71-4597-B956-970AFEE628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62270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934A1E-5D71-4597-B956-970AFEE628A1}" type="slidenum">
              <a:rPr lang="es-CL" smtClean="0"/>
              <a:t>12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45903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48640" y="-731520"/>
            <a:ext cx="2743200" cy="2194560"/>
          </a:xfrm>
          <a:prstGeom prst="ellipse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9966960" y="5303520"/>
            <a:ext cx="2926080" cy="2286000"/>
          </a:xfrm>
          <a:prstGeom prst="ellipse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9966960" y="-640080"/>
            <a:ext cx="2103120" cy="1828800"/>
          </a:xfrm>
          <a:prstGeom prst="ellipse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685800"/>
            <a:ext cx="10332720" cy="1920240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234440" y="960120"/>
            <a:ext cx="9692640" cy="5943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3100" b="1" i="0" dirty="0">
                <a:solidFill>
                  <a:srgbClr val="183069"/>
                </a:solidFill>
                <a:latin typeface="Aptos"/>
              </a:rPr>
              <a:t>REUNIÓN DE APODERADOS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91640"/>
            <a:ext cx="950976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0" i="0" dirty="0" err="1">
                <a:solidFill>
                  <a:srgbClr val="303848"/>
                </a:solidFill>
                <a:latin typeface="Aptos"/>
              </a:rPr>
              <a:t>Reflexionamos</a:t>
            </a:r>
            <a:r>
              <a:rPr sz="1900" b="0" i="0">
                <a:solidFill>
                  <a:srgbClr val="303848"/>
                </a:solidFill>
                <a:latin typeface="Aptos"/>
              </a:rPr>
              <a:t>, nos comunicamos y construimos comunidad</a:t>
            </a:r>
          </a:p>
        </p:txBody>
      </p:sp>
      <p:pic>
        <p:nvPicPr>
          <p:cNvPr id="8" name="Picture 7" descr="family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3931920" cy="1828800"/>
          </a:xfrm>
          <a:prstGeom prst="rect">
            <a:avLst/>
          </a:prstGeom>
        </p:spPr>
      </p:pic>
      <p:pic>
        <p:nvPicPr>
          <p:cNvPr id="9" name="Picture 8" descr="kids_dec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2880360"/>
            <a:ext cx="3474720" cy="16916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3657600" y="3017520"/>
            <a:ext cx="4892040" cy="1508760"/>
          </a:xfrm>
          <a:prstGeom prst="roundRect">
            <a:avLst/>
          </a:prstGeom>
          <a:solidFill>
            <a:srgbClr val="FF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3310128"/>
            <a:ext cx="443484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83069"/>
                </a:solidFill>
                <a:latin typeface="Aptos"/>
              </a:rPr>
              <a:t>“Escuela y familia: trabajando juntos por el bienestar de nuestros niños y niñas”.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5760720"/>
            <a:ext cx="85039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000" b="1" i="0">
                <a:solidFill>
                  <a:srgbClr val="183069"/>
                </a:solidFill>
                <a:latin typeface="Aptos"/>
              </a:rPr>
              <a:t>Escuela Santos Rubio Morales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144768"/>
            <a:ext cx="85039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 i="0">
                <a:solidFill>
                  <a:srgbClr val="303848"/>
                </a:solidFill>
                <a:latin typeface="Aptos"/>
              </a:rPr>
              <a:t>Pirque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749808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438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600" b="1" i="0" u="none" strike="noStrike" kern="1200" cap="none" spc="0" normalizeH="0" baseline="0" noProof="0">
                <a:ln>
                  <a:noFill/>
                </a:ln>
                <a:solidFill>
                  <a:srgbClr val="18306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TABLA DE TEMAS DE LA REUNIÓN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30384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Hoy reflexionaremos y revisaremos juntos las fechas importantes para el cierre del año escolar.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9164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9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0485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N.º</a:t>
                      </a:r>
                    </a:p>
                  </a:txBody>
                  <a:tcPr anchor="ctr">
                    <a:solidFill>
                      <a:srgbClr val="1830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</a:p>
                  </a:txBody>
                  <a:tcPr anchor="ctr">
                    <a:solidFill>
                      <a:srgbClr val="1830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Aptos"/>
                        </a:rPr>
                        <a:t>Aspectos que revisaremos</a:t>
                      </a:r>
                    </a:p>
                  </a:txBody>
                  <a:tcPr anchor="ctr">
                    <a:solidFill>
                      <a:srgbClr val="1830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Reflexión sobre el uso del WhatsApp del curso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Caso de Martín y Benjamín; preguntas para reflexionar y acuerdos de convivencia.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Fechas y actividades importantes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SIMCE 6.º Básico y 4.º Básico; Feria Científica abierta a la comunidad.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>
                    <a:solidFill>
                      <a:srgbClr val="EDF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Salidas pedagógicas y encuentros</a:t>
                      </a:r>
                    </a:p>
                  </a:txBody>
                  <a:tcPr anchor="ctr">
                    <a:solidFill>
                      <a:srgbClr val="EDF9F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Río Clarillo para 3.º y 4.º Básico, NT1 y NT2; Encuentro Comunal y Torneo de Robótica.</a:t>
                      </a:r>
                    </a:p>
                  </a:txBody>
                  <a:tcPr anchor="ctr">
                    <a:solidFill>
                      <a:srgbClr val="EDF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>
                    <a:solidFill>
                      <a:srgbClr val="FFF9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Hitos y ceremonias escolares</a:t>
                      </a:r>
                    </a:p>
                  </a:txBody>
                  <a:tcPr anchor="ctr">
                    <a:solidFill>
                      <a:srgbClr val="FFF9E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Primera Lectura; despedida de 7.º a 8.º; graduación de 8.º; traspaso de Kínder a 1.º; ceremonia de premiación.</a:t>
                      </a:r>
                    </a:p>
                  </a:txBody>
                  <a:tcPr anchor="ctr">
                    <a:solidFill>
                      <a:srgbClr val="FFF9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485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Cierre del año escolar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Último día de clases y convivencia general del 15 de diciembre; cooperación por curso.</a:t>
                      </a:r>
                    </a:p>
                  </a:txBody>
                  <a:tcPr anchor="ctr">
                    <a:solidFill>
                      <a:srgbClr val="E1F4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0490">
                <a:tc>
                  <a:txBody>
                    <a:bodyPr/>
                    <a:lstStyle/>
                    <a:p>
                      <a:pPr algn="ctr">
                        <a:spcAft>
                          <a:spcPts val="200"/>
                        </a:spcAft>
                      </a:pPr>
                      <a:r>
                        <a:rPr sz="1400" b="0">
                          <a:solidFill>
                            <a:srgbClr val="183069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1">
                          <a:solidFill>
                            <a:srgbClr val="183069"/>
                          </a:solidFill>
                          <a:latin typeface="Aptos"/>
                        </a:rPr>
                        <a:t>Proceso de matrícula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200"/>
                        </a:spcAft>
                      </a:pPr>
                      <a:r>
                        <a:rPr sz="1200" b="0">
                          <a:solidFill>
                            <a:srgbClr val="303848"/>
                          </a:solidFill>
                          <a:latin typeface="Aptos"/>
                        </a:rPr>
                        <a:t>Matrículas de estudiantes antiguos, nuevos y rezagados: fechas, horarios y responsables.</a:t>
                      </a:r>
                    </a:p>
                  </a:txBody>
                  <a:tcPr anchor="ctr">
                    <a:solidFill>
                      <a:srgbClr val="FF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11480" y="6519672"/>
            <a:ext cx="112471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>
                <a:ln>
                  <a:noFill/>
                </a:ln>
                <a:solidFill>
                  <a:srgbClr val="183069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Comunidad Santos Rubio Morales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¿Todo se debe conversar por WhatsApp?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Una invitación a pensar antes de escribir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8"/>
            <a:ext cx="6949440" cy="4005171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6035040" cy="3687163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s-CL" sz="2100" b="0" i="0" dirty="0">
                <a:solidFill>
                  <a:srgbClr val="303848"/>
                </a:solidFill>
                <a:latin typeface="Aptos"/>
              </a:rPr>
              <a:t>Como adultos, somos referentes para nuestros hijos e hijas.</a:t>
            </a:r>
          </a:p>
          <a:p>
            <a:pPr algn="l">
              <a:spcAft>
                <a:spcPts val="600"/>
              </a:spcAft>
            </a:pPr>
            <a:endParaRPr lang="es-CL" sz="2100" b="0" i="0" dirty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lang="es-CL" sz="2100" b="0" i="0" dirty="0">
                <a:solidFill>
                  <a:srgbClr val="303848"/>
                </a:solidFill>
                <a:latin typeface="Aptos"/>
              </a:rPr>
              <a:t>Ellos aprenden de nuestras palabras, de nuestras acciones y de la manera en que enfrentamos los problemas.</a:t>
            </a:r>
          </a:p>
          <a:p>
            <a:pPr algn="l">
              <a:spcAft>
                <a:spcPts val="600"/>
              </a:spcAft>
            </a:pPr>
            <a:endParaRPr lang="es-CL" sz="2100" b="0" i="0" dirty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lang="es-CL" sz="2100" b="0" i="0" dirty="0">
                <a:solidFill>
                  <a:srgbClr val="303848"/>
                </a:solidFill>
                <a:latin typeface="Aptos"/>
              </a:rPr>
              <a:t>Hoy reflexionaremos sobre cómo comunicarnos con respeto, resolver conflictos y proteger el bienestar de nuestros niños y niñas.</a:t>
            </a:r>
          </a:p>
        </p:txBody>
      </p:sp>
      <p:pic>
        <p:nvPicPr>
          <p:cNvPr id="7" name="Picture 6" descr="phone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240280"/>
            <a:ext cx="3383280" cy="2560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35240" y="4983480"/>
            <a:ext cx="3657600" cy="685800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8120" y="5138928"/>
            <a:ext cx="329184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83069"/>
                </a:solidFill>
                <a:latin typeface="Aptos"/>
              </a:rPr>
              <a:t>Pensemos antes de publicar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Caso: “Un mensaje que generó un problema mayor”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Leamos la situación sin buscar culpables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58368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87552" y="2084831"/>
            <a:ext cx="6080760" cy="3154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303848"/>
                </a:solidFill>
                <a:latin typeface="Aptos"/>
              </a:rPr>
              <a:t>Durante el recreo, Martín y Benjamín, estudiantes del curso, tienen un desacuerdo mientras juegan. En medio de la discusión, Benjamín empuja a Martín, quien se molesta y comienza a llorar.</a:t>
            </a:r>
          </a:p>
          <a:p>
            <a:pPr algn="l">
              <a:spcAft>
                <a:spcPts val="600"/>
              </a:spcAft>
            </a:pPr>
            <a:endParaRPr sz="1800" b="0" i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303848"/>
                </a:solidFill>
                <a:latin typeface="Aptos"/>
              </a:rPr>
              <a:t>Al llegar a su casa, Martín le cuenta lo sucedido a su mamá. Preocupada y molesta por lo que escucha, ella decide escribir inmediatamente en el WhatsApp del curso:</a:t>
            </a:r>
          </a:p>
        </p:txBody>
      </p:sp>
      <p:pic>
        <p:nvPicPr>
          <p:cNvPr id="7" name="Picture 6" descr="kids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2240280"/>
            <a:ext cx="3657600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18120" y="4434840"/>
            <a:ext cx="3337560" cy="731520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79" y="4617720"/>
            <a:ext cx="30632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 i="0">
                <a:solidFill>
                  <a:srgbClr val="183069"/>
                </a:solidFill>
                <a:latin typeface="Aptos"/>
              </a:rPr>
              <a:t>¿Qué haríamos en su lugar?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El mensaje en el WhatsApp del curso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¿Qué efecto puede tener un mensaje escrito desde la molestia?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783080"/>
            <a:ext cx="10332720" cy="4160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25880" y="2148840"/>
            <a:ext cx="9509760" cy="3429000"/>
          </a:xfrm>
          <a:prstGeom prst="roundRect">
            <a:avLst/>
          </a:prstGeom>
          <a:solidFill>
            <a:srgbClr val="F0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737360" y="2468880"/>
            <a:ext cx="8732520" cy="199439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1" dirty="0">
                <a:solidFill>
                  <a:srgbClr val="303848"/>
                </a:solidFill>
                <a:latin typeface="Aptos"/>
              </a:rPr>
              <a:t>“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Buenas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tardes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,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apoderados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.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Quiero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contarles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hoy mi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hijo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Martín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tuvo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un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problema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con un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compañero</a:t>
            </a:r>
            <a:r>
              <a:rPr lang="es-MX" sz="2000" b="0" i="1" dirty="0">
                <a:solidFill>
                  <a:srgbClr val="303848"/>
                </a:solidFill>
                <a:latin typeface="Aptos"/>
              </a:rPr>
              <a:t> llamado </a:t>
            </a:r>
            <a:r>
              <a:rPr lang="es-MX" sz="2000" b="0" i="1" dirty="0" err="1">
                <a:solidFill>
                  <a:srgbClr val="303848"/>
                </a:solidFill>
                <a:latin typeface="Aptos"/>
              </a:rPr>
              <a:t>Benjamin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lo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empujó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durante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el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recreo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. Me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parece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inaceptable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estas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cosas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sucedan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la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escuela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y que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nadie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haga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nada. Les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pido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estén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atentos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a lo que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hacen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sus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hijos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,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porque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no es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primera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vez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escucho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situaciones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de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este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tipo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.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Ojalá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los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papás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del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niño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involucrado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se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hagan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responsables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de la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educación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que le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están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 </a:t>
            </a:r>
            <a:r>
              <a:rPr sz="2000" b="0" i="1" dirty="0" err="1">
                <a:solidFill>
                  <a:srgbClr val="303848"/>
                </a:solidFill>
                <a:latin typeface="Aptos"/>
              </a:rPr>
              <a:t>dando</a:t>
            </a:r>
            <a:r>
              <a:rPr sz="2000" b="0" i="1" dirty="0">
                <a:solidFill>
                  <a:srgbClr val="303848"/>
                </a:solidFill>
                <a:latin typeface="Aptos"/>
              </a:rPr>
              <a:t>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5715000"/>
            <a:ext cx="969264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Pausa: ¿este mensaje ayuda a resolver el problema o puede hacerlo crecer?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¿Qué pasó después?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Una situación entre estudiantes se transforma en un conflicto entre adultos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029200" cy="42519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480560" cy="3657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03848"/>
                </a:solidFill>
                <a:latin typeface="Aptos"/>
              </a:rPr>
              <a:t>Después del mensaje:</a:t>
            </a:r>
          </a:p>
          <a:p>
            <a:pPr algn="l">
              <a:spcAft>
                <a:spcPts val="600"/>
              </a:spcAft>
            </a:pPr>
            <a:endParaRPr sz="1700" b="0" i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03848"/>
                </a:solidFill>
                <a:latin typeface="Aptos"/>
              </a:rPr>
              <a:t>• Algunos apoderados comienzan a comentar lo sucedido.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03848"/>
                </a:solidFill>
                <a:latin typeface="Aptos"/>
              </a:rPr>
              <a:t>• Otros intentan adivinar quiénes son los estudiantes involucrados.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03848"/>
                </a:solidFill>
                <a:latin typeface="Aptos"/>
              </a:rPr>
              <a:t>• Algunas familias defienden a sus hijos y otras critican a la mamá que escribió.</a:t>
            </a:r>
          </a:p>
          <a:p>
            <a:pPr algn="l">
              <a:spcAft>
                <a:spcPts val="600"/>
              </a:spcAft>
            </a:pPr>
            <a:endParaRPr sz="1700" b="0" i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303848"/>
                </a:solidFill>
                <a:latin typeface="Aptos"/>
              </a:rPr>
              <a:t>En pocos minutos, el conflicto crece, aparecen comentarios que no necesariamente corresponden a lo ocurrido y los niños se sienten incómodos.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80760" y="1737360"/>
            <a:ext cx="5303520" cy="4251960"/>
          </a:xfrm>
          <a:prstGeom prst="roundRect">
            <a:avLst/>
          </a:prstGeom>
          <a:solidFill>
            <a:srgbClr val="FF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965960"/>
            <a:ext cx="4754880" cy="43891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 i="0">
                <a:solidFill>
                  <a:srgbClr val="183069"/>
                </a:solidFill>
                <a:latin typeface="Aptos"/>
              </a:rPr>
              <a:t>Preguntas para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4617720" cy="267150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lang="es-MX" sz="1600" b="0" i="0" dirty="0">
                <a:solidFill>
                  <a:srgbClr val="303848"/>
                </a:solidFill>
                <a:latin typeface="Aptos"/>
              </a:rPr>
              <a:t>1. Que hace usted cuando lee estos mensajes en el grupo de WhatsApp del curso de su hijo?</a:t>
            </a:r>
          </a:p>
          <a:p>
            <a:pPr algn="l">
              <a:spcAft>
                <a:spcPts val="600"/>
              </a:spcAft>
            </a:pPr>
            <a:r>
              <a:rPr lang="es-MX" sz="1600" dirty="0">
                <a:solidFill>
                  <a:srgbClr val="303848"/>
                </a:solidFill>
                <a:latin typeface="Aptos"/>
              </a:rPr>
              <a:t>2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. ¿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Qué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h</a:t>
            </a:r>
            <a:r>
              <a:rPr lang="es-CL" sz="1600" b="0" i="0" dirty="0" err="1">
                <a:solidFill>
                  <a:srgbClr val="303848"/>
                </a:solidFill>
                <a:latin typeface="Aptos"/>
              </a:rPr>
              <a:t>aría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usted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si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su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hijo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o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hija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llegara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a casa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contando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una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situación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así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?</a:t>
            </a:r>
            <a:endParaRPr lang="es-MX" sz="1600" b="0" i="0" dirty="0">
              <a:solidFill>
                <a:srgbClr val="303848"/>
              </a:solidFill>
              <a:latin typeface="Aptos"/>
            </a:endParaRPr>
          </a:p>
          <a:p>
            <a:pPr algn="l">
              <a:spcAft>
                <a:spcPts val="600"/>
              </a:spcAft>
            </a:pPr>
            <a:r>
              <a:rPr lang="es-CL" sz="1600" dirty="0">
                <a:solidFill>
                  <a:srgbClr val="303848"/>
                </a:solidFill>
                <a:latin typeface="Aptos"/>
              </a:rPr>
              <a:t>3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. ¿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Fue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correcto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exponer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lo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sucedido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en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el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WhatsApp del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curso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? ¿Por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qué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?</a:t>
            </a:r>
          </a:p>
          <a:p>
            <a:pPr algn="l">
              <a:spcAft>
                <a:spcPts val="600"/>
              </a:spcAft>
            </a:pPr>
            <a:r>
              <a:rPr lang="es-MX" sz="1600" dirty="0">
                <a:solidFill>
                  <a:srgbClr val="303848"/>
                </a:solidFill>
                <a:latin typeface="Aptos"/>
              </a:rPr>
              <a:t>4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. ¿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Qué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habría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sido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lo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correcto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?</a:t>
            </a:r>
          </a:p>
          <a:p>
            <a:pPr algn="l">
              <a:spcAft>
                <a:spcPts val="600"/>
              </a:spcAft>
            </a:pPr>
            <a:r>
              <a:rPr lang="es-MX" sz="1600" dirty="0">
                <a:solidFill>
                  <a:srgbClr val="303848"/>
                </a:solidFill>
                <a:latin typeface="Aptos"/>
              </a:rPr>
              <a:t>5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. ¿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Cómo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podemos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solucionar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el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problema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sin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generar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un </a:t>
            </a:r>
            <a:r>
              <a:rPr lang="es-CL" sz="1600" b="0" i="0" dirty="0">
                <a:solidFill>
                  <a:srgbClr val="303848"/>
                </a:solidFill>
                <a:latin typeface="Aptos"/>
              </a:rPr>
              <a:t>conflicto</a:t>
            </a:r>
            <a:r>
              <a:rPr sz="1600" b="0" i="0" dirty="0">
                <a:solidFill>
                  <a:srgbClr val="303848"/>
                </a:solidFill>
                <a:latin typeface="Aptos"/>
              </a:rPr>
              <a:t> mayor?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¿Cómo actuamos para cuidar a nuestros niños?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El canal y la forma en que conversamos sí importan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1764792"/>
            <a:ext cx="566928" cy="566928"/>
          </a:xfrm>
          <a:prstGeom prst="ellipse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3840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83069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91640" y="1691640"/>
            <a:ext cx="96012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810512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Escuchar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10512"/>
            <a:ext cx="73152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Escuchemos a nuestros hijos con calma, sin sacar conclusiones apresuradas.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43784"/>
            <a:ext cx="566928" cy="566928"/>
          </a:xfrm>
          <a:prstGeom prst="ellipse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0120" y="2926080"/>
            <a:ext cx="3840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83069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2770632"/>
            <a:ext cx="96012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20240" y="2889504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Consultar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889504"/>
            <a:ext cx="73152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Recordemos que podemos no conocer todos los antecedentes de lo ocurrido.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3922776"/>
            <a:ext cx="566928" cy="566928"/>
          </a:xfrm>
          <a:prstGeom prst="ellipse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005072"/>
            <a:ext cx="3840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83069"/>
                </a:solidFill>
                <a:latin typeface="Aptos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1640" y="3849624"/>
            <a:ext cx="96012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0240" y="3968496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Comunicar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968496"/>
            <a:ext cx="73152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Contactemos al profesor o profesora jefe, o al equipo correspondiente de la escuela.</a:t>
            </a:r>
          </a:p>
        </p:txBody>
      </p:sp>
      <p:sp>
        <p:nvSpPr>
          <p:cNvPr id="20" name="Oval 19"/>
          <p:cNvSpPr/>
          <p:nvPr/>
        </p:nvSpPr>
        <p:spPr>
          <a:xfrm>
            <a:off x="868680" y="5001768"/>
            <a:ext cx="566928" cy="566928"/>
          </a:xfrm>
          <a:prstGeom prst="ellipse">
            <a:avLst/>
          </a:prstGeom>
          <a:solidFill>
            <a:srgbClr val="D2C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5084064"/>
            <a:ext cx="384048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900" b="1" i="0">
                <a:solidFill>
                  <a:srgbClr val="183069"/>
                </a:solidFill>
                <a:latin typeface="Aptos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1640" y="4928616"/>
            <a:ext cx="9601200" cy="80467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20240" y="5047488"/>
            <a:ext cx="164592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Resguardar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5047488"/>
            <a:ext cx="7315200" cy="5029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Evitemos exponer a estudiantes, compartir rumores o emitir juicios en el grupo.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Nuestro compromiso como familias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Construyamos una comunidad donde los conflictos se conversen con respeto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10652760" cy="2423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148840"/>
            <a:ext cx="9829800" cy="1417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 i="0">
                <a:solidFill>
                  <a:srgbClr val="183069"/>
                </a:solidFill>
                <a:latin typeface="Aptos"/>
              </a:rPr>
              <a:t>“No se trata de guardar silencio frente a una situación que nos preocupa, sino de saber dónde, cómo y con quién debemos conversar para encontrar una solución”.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4480560"/>
            <a:ext cx="9921240" cy="1417320"/>
          </a:xfrm>
          <a:prstGeom prst="roundRect">
            <a:avLst/>
          </a:prstGeom>
          <a:solidFill>
            <a:srgbClr val="ED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463040" y="4645152"/>
            <a:ext cx="9235440" cy="10972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✓ No exponer a estudiantes ni familias en el WhatsApp del curso.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✓ No difundir rumores ni emitir juicios sin conocer los antecedentes.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✓ Usar los canales formales de la escuela para informar situaciones preocupantes.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303848"/>
                </a:solidFill>
                <a:latin typeface="Aptos"/>
              </a:rPr>
              <a:t>✓ Enseñar con el ejemplo: diálogo, respeto y empatía.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84048"/>
            <a:ext cx="11155680" cy="749808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48056"/>
            <a:ext cx="1069848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2800" b="1" i="0">
                <a:solidFill>
                  <a:srgbClr val="183069"/>
                </a:solidFill>
                <a:latin typeface="Aptos"/>
              </a:rPr>
              <a:t>Fechas y actividades importantes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07008"/>
            <a:ext cx="1069848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¡Organicemos juntos el cierre del año escolar!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61320" cy="1097280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51560" y="1965960"/>
            <a:ext cx="2286000" cy="731520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12264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83069"/>
                </a:solidFill>
                <a:latin typeface="Aptos"/>
              </a:rPr>
              <a:t>28 y 29 de octubre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929384"/>
            <a:ext cx="71323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83069"/>
                </a:solidFill>
                <a:latin typeface="Aptos"/>
              </a:rPr>
              <a:t>SIMCE 6° Básico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377440"/>
            <a:ext cx="7132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Preparémonos y apoyemos a nuestros estudiantes.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200400"/>
            <a:ext cx="10561320" cy="1097280"/>
          </a:xfrm>
          <a:prstGeom prst="roundRect">
            <a:avLst/>
          </a:prstGeom>
          <a:solidFill>
            <a:srgbClr val="ED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051560" y="3383280"/>
            <a:ext cx="2286000" cy="731520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43000" y="3529584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83069"/>
                </a:solidFill>
                <a:latin typeface="Aptos"/>
              </a:rPr>
              <a:t>30 de octubre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46704"/>
            <a:ext cx="71323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83069"/>
                </a:solidFill>
                <a:latin typeface="Aptos"/>
              </a:rPr>
              <a:t>Feria Científica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3794760"/>
            <a:ext cx="7132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Desde las 11:00 horas • Abierta a toda la comunidad.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617720"/>
            <a:ext cx="10561320" cy="1097280"/>
          </a:xfrm>
          <a:prstGeom prst="roundRect">
            <a:avLst/>
          </a:prstGeom>
          <a:solidFill>
            <a:srgbClr val="FF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1560" y="4800600"/>
            <a:ext cx="2286000" cy="731520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3000" y="4946904"/>
            <a:ext cx="21031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1" i="0">
                <a:solidFill>
                  <a:srgbClr val="183069"/>
                </a:solidFill>
                <a:latin typeface="Aptos"/>
              </a:rPr>
              <a:t>4 y 5 de noviembre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764024"/>
            <a:ext cx="71323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183069"/>
                </a:solidFill>
                <a:latin typeface="Aptos"/>
              </a:rPr>
              <a:t>SIMCE 4° Básico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5212080"/>
            <a:ext cx="71323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303848"/>
                </a:solidFill>
                <a:latin typeface="Aptos"/>
              </a:rPr>
              <a:t>Acompañemos a nuestros estudiantes con confianza.</a:t>
            </a:r>
          </a:p>
        </p:txBody>
      </p:sp>
      <p:pic>
        <p:nvPicPr>
          <p:cNvPr id="20" name="Picture 19" descr="science_dec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0" y="5989320"/>
            <a:ext cx="914400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5989320"/>
            <a:ext cx="859536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1" i="0">
                <a:solidFill>
                  <a:srgbClr val="183069"/>
                </a:solidFill>
                <a:latin typeface="Aptos"/>
              </a:rPr>
              <a:t>¡Gracias por ser parte activa de nuestra comunidad educativa!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510528"/>
            <a:ext cx="11247120" cy="2011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900" b="0" i="0">
                <a:solidFill>
                  <a:srgbClr val="183069"/>
                </a:solidFill>
                <a:latin typeface="Aptos"/>
              </a:rPr>
              <a:t>Comunidad Santos Rubio Morales  • 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>
                <a:solidFill>
                  <a:srgbClr val="183069"/>
                </a:solidFill>
                <a:latin typeface="Aptos"/>
              </a:rPr>
              <a:t>Hitos y ceremonias de nuestra escuela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10698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03848"/>
                </a:solidFill>
                <a:latin typeface="Aptos"/>
              </a:rPr>
              <a:t>Momentos importantes para celebrar los aprendizajes y acompañar a nuestros estudiantes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10835640" cy="749808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737360"/>
            <a:ext cx="2423160" cy="512064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83069"/>
                </a:solidFill>
                <a:latin typeface="Aptos"/>
              </a:rPr>
              <a:t>20 de noviembre • 10:00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20440" y="1700784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Primera Lectura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011680"/>
            <a:ext cx="7589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03848"/>
                </a:solidFill>
                <a:latin typeface="Aptos"/>
              </a:rPr>
              <a:t>Celebración de los avances lectores de nuestros estudiantes.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23744"/>
            <a:ext cx="10835640" cy="749808"/>
          </a:xfrm>
          <a:prstGeom prst="roundRect">
            <a:avLst/>
          </a:prstGeom>
          <a:solidFill>
            <a:srgbClr val="FF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68680" y="2633472"/>
            <a:ext cx="2423160" cy="512064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" y="2706624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83069"/>
                </a:solidFill>
                <a:latin typeface="Aptos"/>
              </a:rPr>
              <a:t>4 de diciembre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596896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Despedida de 7.º a 8.º Básico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907791"/>
            <a:ext cx="7589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03848"/>
                </a:solidFill>
                <a:latin typeface="Aptos"/>
              </a:rPr>
              <a:t>Instancia de encuentro y despedida entre los cursos.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419856"/>
            <a:ext cx="10835640" cy="749808"/>
          </a:xfrm>
          <a:prstGeom prst="roundRect">
            <a:avLst/>
          </a:prstGeom>
          <a:solidFill>
            <a:srgbClr val="ED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68680" y="3529584"/>
            <a:ext cx="2423160" cy="512064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32688" y="3602736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83069"/>
                </a:solidFill>
                <a:latin typeface="Aptos"/>
              </a:rPr>
              <a:t>9 de diciembre • 10:00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3493008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Graduación de 8.º Básico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3803904"/>
            <a:ext cx="7589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03848"/>
                </a:solidFill>
                <a:latin typeface="Aptos"/>
              </a:rPr>
              <a:t>Ceremonia de cierre de una importante etapa escolar.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315968"/>
            <a:ext cx="10835640" cy="749808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68680" y="4425696"/>
            <a:ext cx="2423160" cy="512064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" y="4498848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83069"/>
                </a:solidFill>
                <a:latin typeface="Aptos"/>
              </a:rPr>
              <a:t>11 de diciembre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4389120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Traspaso de Kínder a 1.º Básico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40" y="4700016"/>
            <a:ext cx="7589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03848"/>
                </a:solidFill>
                <a:latin typeface="Aptos"/>
              </a:rPr>
              <a:t>Ceremonia de transición hacia la Educación Básica.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5212080"/>
            <a:ext cx="10835640" cy="749808"/>
          </a:xfrm>
          <a:prstGeom prst="roundRect">
            <a:avLst/>
          </a:prstGeom>
          <a:solidFill>
            <a:srgbClr val="FF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" y="5321808"/>
            <a:ext cx="2423160" cy="512064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32688" y="5394960"/>
            <a:ext cx="2286000" cy="3200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183069"/>
                </a:solidFill>
                <a:latin typeface="Aptos"/>
              </a:rPr>
              <a:t>15 de diciembre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5285232"/>
            <a:ext cx="7589520" cy="2743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Ceremonia de premiación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5596128"/>
            <a:ext cx="7589520" cy="25603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303848"/>
                </a:solidFill>
                <a:latin typeface="Aptos"/>
              </a:rPr>
              <a:t>Reconocimiento al esfuerzo, la participación y los logros de nuestros estudiantes.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6519672"/>
            <a:ext cx="11247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83069"/>
                </a:solidFill>
                <a:latin typeface="Aptos"/>
              </a:rPr>
              <a:t>Comunidad Santos Rubio Morales  •  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4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>
                <a:solidFill>
                  <a:srgbClr val="183069"/>
                </a:solidFill>
                <a:latin typeface="Aptos"/>
              </a:rPr>
              <a:t>Salidas pedagógicas y encuentros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10698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03848"/>
                </a:solidFill>
                <a:latin typeface="Aptos"/>
              </a:rPr>
              <a:t>Actividades de aprendizaje fuera y dentro de la escuela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257800" cy="1645920"/>
          </a:xfrm>
          <a:prstGeom prst="roundRect">
            <a:avLst/>
          </a:prstGeom>
          <a:solidFill>
            <a:srgbClr val="ED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14400" y="1874520"/>
            <a:ext cx="1874519" cy="475488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6 de noviembre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68880"/>
            <a:ext cx="4800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Encuentro Comunal de Robótica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898648"/>
            <a:ext cx="48006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Desde las 8:30 hasta las 16:00 horas.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5257800" cy="1645920"/>
          </a:xfrm>
          <a:prstGeom prst="roundRect">
            <a:avLst/>
          </a:prstGeom>
          <a:solidFill>
            <a:srgbClr val="FF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874520"/>
            <a:ext cx="1874519" cy="475488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46520" y="194767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17 de noviembre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468880"/>
            <a:ext cx="4800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Salida pedagógica a Río Clarillo • 3.º y 4.º Básico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98648"/>
            <a:ext cx="48006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Actividad sujeta a las condiciones climáticas.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657600"/>
            <a:ext cx="5257800" cy="1645920"/>
          </a:xfrm>
          <a:prstGeom prst="roundRect">
            <a:avLst/>
          </a:prstGeom>
          <a:solidFill>
            <a:srgbClr val="FF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3840480"/>
            <a:ext cx="1874519" cy="475488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91363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24 de noviembre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434840"/>
            <a:ext cx="4800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Salida pedagógica a Río Clarillo • NT1 y NT2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864608"/>
            <a:ext cx="48006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Actividad sujeta a las condiciones climáticas.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257800" cy="1645920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00800" y="3840480"/>
            <a:ext cx="1874519" cy="475488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46520" y="3913632"/>
            <a:ext cx="178308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28 de noviembre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4434840"/>
            <a:ext cx="480060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Torneo de Robótica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4864608"/>
            <a:ext cx="480060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Participan únicamente estudiantes del taller extraprogramático.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742432"/>
            <a:ext cx="104241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Recordatorio: las salidas a Río Clarillo se realizarán solo si las condiciones climáticas lo permiten.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9672"/>
            <a:ext cx="11247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83069"/>
                </a:solidFill>
                <a:latin typeface="Aptos"/>
              </a:rPr>
              <a:t>Comunidad Santos Rubio Morales  •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>
                <a:solidFill>
                  <a:srgbClr val="183069"/>
                </a:solidFill>
                <a:latin typeface="Aptos"/>
              </a:rPr>
              <a:t>15 de diciembre: cierre del año escolar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10698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03848"/>
                </a:solidFill>
                <a:latin typeface="Aptos"/>
              </a:rPr>
              <a:t>Una jornada para compartir y reconocer lo vivido durante el año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10424160" cy="1234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987552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300" b="1">
                <a:solidFill>
                  <a:srgbClr val="183069"/>
                </a:solidFill>
                <a:latin typeface="Aptos"/>
              </a:rPr>
              <a:t>Último día de clases y convivencia 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50592"/>
            <a:ext cx="96926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0">
                <a:solidFill>
                  <a:srgbClr val="303848"/>
                </a:solidFill>
                <a:latin typeface="Aptos"/>
              </a:rPr>
              <a:t>Se realizará una convivencia general en la escuela; no se organizará una convivencia independiente por cada curso.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337560"/>
            <a:ext cx="10332720" cy="1965960"/>
          </a:xfrm>
          <a:prstGeom prst="roundRect">
            <a:avLst/>
          </a:prstGeom>
          <a:solidFill>
            <a:srgbClr val="EDF9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34440" y="3566160"/>
            <a:ext cx="969264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2200" b="1">
                <a:solidFill>
                  <a:srgbClr val="183069"/>
                </a:solidFill>
                <a:latin typeface="Aptos"/>
              </a:rPr>
              <a:t>Cooperación por curso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096512"/>
            <a:ext cx="9326880" cy="9144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0">
                <a:solidFill>
                  <a:srgbClr val="303848"/>
                </a:solidFill>
                <a:latin typeface="Aptos"/>
              </a:rPr>
              <a:t>Se solicitará a cada curso colaborar con un alimento o aporte específico para compartir. Por ejemplo, al 3.º Básico se le podría solicitar únicamente queques. La organización informará oportunamente qué corresponde aportar a cada curso.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5623560"/>
            <a:ext cx="96012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700" b="1">
                <a:solidFill>
                  <a:srgbClr val="183069"/>
                </a:solidFill>
                <a:latin typeface="Aptos"/>
              </a:rPr>
              <a:t>Ese mismo día se realizará la ceremonia de premiación.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6519672"/>
            <a:ext cx="11247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83069"/>
                </a:solidFill>
                <a:latin typeface="Aptos"/>
              </a:rPr>
              <a:t>Comunidad Santos Rubio Morales  •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DF9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C2E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93192"/>
            <a:ext cx="10698480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2700" b="1">
                <a:solidFill>
                  <a:srgbClr val="183069"/>
                </a:solidFill>
                <a:latin typeface="Aptos"/>
              </a:rPr>
              <a:t>Proceso de matrícula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61288"/>
            <a:ext cx="10698480" cy="34747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0">
                <a:solidFill>
                  <a:srgbClr val="303848"/>
                </a:solidFill>
                <a:latin typeface="Aptos"/>
              </a:rPr>
              <a:t>Fechas, horarios y responsables para organizar el proceso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10652760" cy="1078992"/>
          </a:xfrm>
          <a:prstGeom prst="roundRect">
            <a:avLst/>
          </a:prstGeom>
          <a:solidFill>
            <a:srgbClr val="E1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60120" y="1929384"/>
            <a:ext cx="1965960" cy="749808"/>
          </a:xfrm>
          <a:prstGeom prst="roundRect">
            <a:avLst/>
          </a:prstGeom>
          <a:solidFill>
            <a:srgbClr val="5CB7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29967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14 de diciembre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1892807"/>
            <a:ext cx="3383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3069"/>
                </a:solidFill>
                <a:latin typeface="Aptos"/>
              </a:rPr>
              <a:t>Estudiantes antiguos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911095"/>
            <a:ext cx="4023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13:00 a 15:30 horas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304288"/>
            <a:ext cx="7543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La matrícula será realizada por los profesores jefes.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108960"/>
            <a:ext cx="10652760" cy="1078992"/>
          </a:xfrm>
          <a:prstGeom prst="roundRect">
            <a:avLst/>
          </a:prstGeom>
          <a:solidFill>
            <a:srgbClr val="FFF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60120" y="3255264"/>
            <a:ext cx="1965960" cy="749808"/>
          </a:xfrm>
          <a:prstGeom prst="roundRect">
            <a:avLst/>
          </a:prstGeom>
          <a:solidFill>
            <a:srgbClr val="FFE0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24128" y="3355848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17 de diciembre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18688"/>
            <a:ext cx="3383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3069"/>
                </a:solidFill>
                <a:latin typeface="Aptos"/>
              </a:rPr>
              <a:t>Estudiantes nuevos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236976"/>
            <a:ext cx="4023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8:30 a 13:00 horas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630168"/>
            <a:ext cx="7543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Proceso de matrícula para estudiantes que ingresan a la escuela.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434840"/>
            <a:ext cx="10652760" cy="1078992"/>
          </a:xfrm>
          <a:prstGeom prst="roundRect">
            <a:avLst/>
          </a:prstGeom>
          <a:solidFill>
            <a:srgbClr val="FF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60120" y="4581144"/>
            <a:ext cx="1965960" cy="749808"/>
          </a:xfrm>
          <a:prstGeom prst="roundRect">
            <a:avLst/>
          </a:prstGeom>
          <a:solidFill>
            <a:srgbClr val="FAC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24128" y="4681727"/>
            <a:ext cx="1828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21 de diciembre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46120" y="4544568"/>
            <a:ext cx="3383280" cy="3200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183069"/>
                </a:solidFill>
                <a:latin typeface="Aptos"/>
              </a:rPr>
              <a:t>Estudiantes rezagados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4562855"/>
            <a:ext cx="40233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600" b="1">
                <a:solidFill>
                  <a:srgbClr val="183069"/>
                </a:solidFill>
                <a:latin typeface="Aptos"/>
              </a:rPr>
              <a:t>8:30 a 13:00 horas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4956048"/>
            <a:ext cx="754380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303848"/>
                </a:solidFill>
                <a:latin typeface="Aptos"/>
              </a:rPr>
              <a:t>La matrícula será realizada por asistentes de la educación.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97280" y="5989320"/>
            <a:ext cx="9966960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25880" y="6025896"/>
            <a:ext cx="950976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>
              <a:spcAft>
                <a:spcPts val="500"/>
              </a:spcAft>
            </a:pPr>
            <a:r>
              <a:rPr sz="1400" b="1">
                <a:solidFill>
                  <a:srgbClr val="183069"/>
                </a:solidFill>
                <a:latin typeface="Aptos"/>
              </a:rPr>
              <a:t>Por favor, respetar las fechas y horarios correspondientes.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9672"/>
            <a:ext cx="11247120" cy="182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0">
                <a:solidFill>
                  <a:srgbClr val="183069"/>
                </a:solidFill>
                <a:latin typeface="Aptos"/>
              </a:rPr>
              <a:t>Comunidad Santos Rubio Morales  •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1370</Words>
  <Application>Microsoft Office PowerPoint</Application>
  <PresentationFormat>Panorámica</PresentationFormat>
  <Paragraphs>161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Renato Poblete Lopez</dc:creator>
  <cp:keywords/>
  <dc:description>generated using python-pptx</dc:description>
  <cp:lastModifiedBy>Renato Poblete Lopez</cp:lastModifiedBy>
  <cp:revision>2</cp:revision>
  <dcterms:created xsi:type="dcterms:W3CDTF">2013-01-27T09:14:16Z</dcterms:created>
  <dcterms:modified xsi:type="dcterms:W3CDTF">2026-10-26T15:45:03Z</dcterms:modified>
  <cp:category/>
</cp:coreProperties>
</file>